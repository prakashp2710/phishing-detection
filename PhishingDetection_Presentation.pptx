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109728" cy="685800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PHISHING DETECTION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00BCF2"/>
                </a:solidFill>
              </a:rPr>
              <a:t>Using Deep Learning · CNN / LSTM Neural Networks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834640"/>
            <a:ext cx="5486400" cy="3175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CF2"/>
                </a:solidFill>
              </a:rPr>
              <a:t>Presented by: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0175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Prakash 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478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CF2"/>
                </a:solidFill>
              </a:rPr>
              <a:t>Project Type: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54787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Final Year Deep Learning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7822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CF2"/>
                </a:solidFill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078224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April 21,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0857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CF2"/>
                </a:solidFill>
              </a:rPr>
              <a:t>Technologies: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608576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Flask · TensorFlow · Python · Playwright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2860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0" i="0">
                <a:solidFill>
                  <a:srgbClr val="FFFFFF"/>
                </a:solidFill>
              </a:rPr>
              <a:t>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CF2"/>
                </a:solidFill>
              </a:rPr>
              <a:t>Why phishing detection matters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669280" cy="521208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261872"/>
            <a:ext cx="5449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545"/>
                </a:solidFill>
              </a:rPr>
              <a:t>⚠ 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572768"/>
            <a:ext cx="5449824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🔴  $43 billion lost annually to phishing attacks worldwide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🔴  3.4 billion phishing emails sent every single day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🔴  90% of data breaches involve phishing as the initial vector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🔴  Traditional blacklist methods are reactive — not predictive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🔴  High false-positive rates in rule-based systems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🔴  Attackers continuously mutate URLs to evade detection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5760720" cy="521208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261872"/>
            <a:ext cx="55412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5A"/>
                </a:solidFill>
              </a:rPr>
              <a:t>🎯  Project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572768"/>
            <a:ext cx="5541264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✅  Build a real-time URL phishing detector using Deep Learning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✅  Extract 14 URL-based features automatically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✅  Achieve &gt;95 % accuracy with low false-positive rate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✅  Provide SSL, IP, screenshot &amp; hosting verification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✅  Deliver a user-friendly Flask web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Phishing?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CF2"/>
                </a:solidFill>
              </a:rPr>
              <a:t>Definition, types &amp; global statistics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CCD6E0"/>
                </a:solidFill>
              </a:rPr>
              <a:t>Phishing is a cybercrime where attackers impersonate legitimate organisations to trick victims into revealing sensitive information such as passwords, credit-card numbers, or personal data — typically via deceptive URLs.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3749039" cy="18288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26771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F2"/>
                </a:solidFill>
              </a:rPr>
              <a:t>Email Phishing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76148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Malicious links embedded in spoofed emails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2194560"/>
            <a:ext cx="3749039" cy="18288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19" y="226771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19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F2"/>
                </a:solidFill>
              </a:rPr>
              <a:t>URL Phishing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19" y="276148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Crafted URLs mimicking trusted domains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8" y="2194560"/>
            <a:ext cx="3749039" cy="18288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58" y="226771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58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F2"/>
                </a:solidFill>
              </a:rPr>
              <a:t>Clone Phishing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8" y="276148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Carbon-copy of real emails with swapped links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251960"/>
            <a:ext cx="3749039" cy="18288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32511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F2"/>
                </a:solidFill>
              </a:rPr>
              <a:t>Spear Phishing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81888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Targeted attacks on specific individuals/orgs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4251960"/>
            <a:ext cx="3749039" cy="18288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19" y="432511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19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F2"/>
                </a:solidFill>
              </a:rPr>
              <a:t>Smishing / Vishing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19" y="481888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Via SMS (smishing) or voice calls (vishing)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598" y="4251960"/>
            <a:ext cx="3749039" cy="18288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58" y="432511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58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F2"/>
                </a:solidFill>
              </a:rPr>
              <a:t>Pharming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58" y="481888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DNS manipulation redirecting to fake sites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Current Challenges in Phishing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760720" cy="1600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441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F2"/>
                </a:solidFill>
              </a:rPr>
              <a:t>Limited Feature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830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Simple rule-based systems use fewer than 5 features, missing subtle patterns.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34440"/>
            <a:ext cx="5760720" cy="1600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32588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3441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F2"/>
                </a:solidFill>
              </a:rPr>
              <a:t>High Computational Overhead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Real-time scanning imposes strict latency requirements on detection engines.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71800"/>
            <a:ext cx="5760720" cy="1600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06324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0815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F2"/>
                </a:solidFill>
              </a:rPr>
              <a:t>Adaptive &amp; Polymorphic Attacks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52044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Attackers continuously mutate URLs and page content to bypass filters.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971800"/>
            <a:ext cx="5760720" cy="1600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06324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0️⃣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0815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F2"/>
                </a:solidFill>
              </a:rPr>
              <a:t>Zero-Day Phishing Sites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2044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New phishing pages with no blacklist entry evade traditional detection.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709160"/>
            <a:ext cx="5760720" cy="1600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80060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81888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F2"/>
                </a:solidFill>
              </a:rPr>
              <a:t>High False Positives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2578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Legitimate security-testing or login pages often flagged incorrectly.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709160"/>
            <a:ext cx="5760720" cy="1600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80060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81888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F2"/>
                </a:solidFill>
              </a:rPr>
              <a:t>Multi-Modal Verification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2578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Single-signal systems miss context: SSL, IP, hosting, and visual content.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Our Solution: Phishing Detection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CF2"/>
                </a:solidFill>
              </a:rPr>
              <a:t>A multi-layered deep-learning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PhishGuard combines CNN/LSTM deep learning, multi-signal URL feature extraction, and real-time external verification into a single, fast, and accurate detection platform.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48840"/>
            <a:ext cx="2743200" cy="42519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1945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40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</a:rPr>
              <a:t>Deep Learning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34640"/>
            <a:ext cx="2560320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971800"/>
            <a:ext cx="2560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D6E0"/>
                </a:solidFill>
              </a:rPr>
              <a:t>• CNN/LSTM hybrid architecture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6E0"/>
                </a:solidFill>
              </a:rPr>
              <a:t>• 14 hand-crafted URL features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6E0"/>
                </a:solidFill>
              </a:rPr>
              <a:t>• Probability output 0 – 1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6E0"/>
                </a:solidFill>
              </a:rPr>
              <a:t>• Threshold: 0.5 (phishing/safe)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148840"/>
            <a:ext cx="2743200" cy="42519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1945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240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CF2"/>
                </a:solidFill>
              </a:rPr>
              <a:t>Multi-Modal Verification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2834640"/>
            <a:ext cx="2560320" cy="2540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971800"/>
            <a:ext cx="2560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D6E0"/>
                </a:solidFill>
              </a:rPr>
              <a:t>• SSL certificate validation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6E0"/>
                </a:solidFill>
              </a:rPr>
              <a:t>• IP address resolution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6E0"/>
                </a:solidFill>
              </a:rPr>
              <a:t>• Hosting provider detection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6E0"/>
                </a:solidFill>
              </a:rPr>
              <a:t>• Webpage screenshot capture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148840"/>
            <a:ext cx="2743200" cy="42519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1945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240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5A"/>
                </a:solidFill>
              </a:rPr>
              <a:t>Flask Web Interface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834640"/>
            <a:ext cx="2560320" cy="25400"/>
          </a:xfrm>
          <a:prstGeom prst="rect">
            <a:avLst/>
          </a:prstGeom>
          <a:solidFill>
            <a:srgbClr val="00C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971800"/>
            <a:ext cx="2560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D6E0"/>
                </a:solidFill>
              </a:rPr>
              <a:t>• Clean, responsive HTML/CSS/JS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6E0"/>
                </a:solidFill>
              </a:rPr>
              <a:t>• REST API (/scan endpoint)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6E0"/>
                </a:solidFill>
              </a:rPr>
              <a:t>• CORS-enabled for integrations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6E0"/>
                </a:solidFill>
              </a:rPr>
              <a:t>• Real-time JSON response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2148840"/>
            <a:ext cx="2743200" cy="42519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21945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2240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A00"/>
                </a:solidFill>
              </a:rPr>
              <a:t>Feature Engineering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81160" y="2834640"/>
            <a:ext cx="2560320" cy="254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2971800"/>
            <a:ext cx="2560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D6E0"/>
                </a:solidFill>
              </a:rPr>
              <a:t>• URL length &amp; domain length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6E0"/>
                </a:solidFill>
              </a:rPr>
              <a:t>• Entropy &amp; special characters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6E0"/>
                </a:solidFill>
              </a:rPr>
              <a:t>• Suspicious keywords check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6E0"/>
                </a:solidFill>
              </a:rPr>
              <a:t>• IP-based domain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CF2"/>
                </a:solidFill>
              </a:rPr>
              <a:t>End-to-end flow from user input to prediction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1280160"/>
            <a:ext cx="2743200" cy="658368"/>
          </a:xfrm>
          <a:prstGeom prst="rect">
            <a:avLst/>
          </a:prstGeom>
          <a:solidFill>
            <a:srgbClr val="0078D4"/>
          </a:solidFill>
          <a:ln w="1524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132588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👤  User / Browser</a:t>
            </a:r>
          </a:p>
          <a:p>
            <a:pPr algn="ctr"/>
            <a:r>
              <a:rPr sz="950" b="0">
                <a:solidFill>
                  <a:srgbClr val="FFFFFF"/>
                </a:solidFill>
              </a:rPr>
              <a:t>(HTML + JavaScript)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148840"/>
            <a:ext cx="2743200" cy="658368"/>
          </a:xfrm>
          <a:prstGeom prst="rect">
            <a:avLst/>
          </a:prstGeom>
          <a:solidFill>
            <a:srgbClr val="1A3F6B"/>
          </a:solidFill>
          <a:ln w="1524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219456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🌐  Flask Web Server</a:t>
            </a:r>
          </a:p>
          <a:p>
            <a:pPr algn="ctr"/>
            <a:r>
              <a:rPr sz="950" b="0">
                <a:solidFill>
                  <a:srgbClr val="FFFFFF"/>
                </a:solidFill>
              </a:rPr>
              <a:t>(app.py · Port 5000 · CORS)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3017520"/>
            <a:ext cx="2743200" cy="658368"/>
          </a:xfrm>
          <a:prstGeom prst="rect">
            <a:avLst/>
          </a:prstGeom>
          <a:solidFill>
            <a:srgbClr val="142A40"/>
          </a:solidFill>
          <a:ln w="1524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306324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0BCF2"/>
                </a:solidFill>
              </a:rPr>
              <a:t>⚙  Feature Extraction</a:t>
            </a:r>
          </a:p>
          <a:p>
            <a:pPr algn="ctr"/>
            <a:r>
              <a:rPr sz="950" b="0">
                <a:solidFill>
                  <a:srgbClr val="00BCF2"/>
                </a:solidFill>
              </a:rPr>
              <a:t>(extract_features · 14 signals)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3886200"/>
            <a:ext cx="2743200" cy="658368"/>
          </a:xfrm>
          <a:prstGeom prst="rect">
            <a:avLst/>
          </a:prstGeom>
          <a:solidFill>
            <a:srgbClr val="142A40"/>
          </a:solidFill>
          <a:ln w="1524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393192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0BCF2"/>
                </a:solidFill>
              </a:rPr>
              <a:t>🧠  CNN / LSTM Model</a:t>
            </a:r>
          </a:p>
          <a:p>
            <a:pPr algn="ctr"/>
            <a:r>
              <a:rPr sz="950" b="0">
                <a:solidFill>
                  <a:srgbClr val="00BCF2"/>
                </a:solidFill>
              </a:rPr>
              <a:t>(best_phishing_model.h5 · Keras)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4892040"/>
            <a:ext cx="2743200" cy="658368"/>
          </a:xfrm>
          <a:prstGeom prst="rect">
            <a:avLst/>
          </a:prstGeom>
          <a:solidFill>
            <a:srgbClr val="142A40"/>
          </a:solidFill>
          <a:ln w="1524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493776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📊  Prediction Engine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Prob &gt; 0.5 → Phishing  |  ≤ 0.5 → Safe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5852160"/>
            <a:ext cx="2743200" cy="658368"/>
          </a:xfrm>
          <a:prstGeom prst="rect">
            <a:avLst/>
          </a:prstGeom>
          <a:solidFill>
            <a:srgbClr val="1A3F6B"/>
          </a:solidFill>
          <a:ln w="1524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589788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📤  JSON Response</a:t>
            </a:r>
          </a:p>
          <a:p>
            <a:pPr algn="ctr"/>
            <a:r>
              <a:rPr sz="950" b="0">
                <a:solidFill>
                  <a:srgbClr val="FFFFFF"/>
                </a:solidFill>
              </a:rPr>
              <a:t>(status · message · screenshot · cert)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62475" y="1938528"/>
            <a:ext cx="19050" cy="21031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62475" y="2807208"/>
            <a:ext cx="19050" cy="21031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62475" y="3675888"/>
            <a:ext cx="19050" cy="21031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62475" y="4544568"/>
            <a:ext cx="19050" cy="3474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62475" y="5550408"/>
            <a:ext cx="19050" cy="3017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12480" y="1280160"/>
            <a:ext cx="3474720" cy="5257800"/>
          </a:xfrm>
          <a:prstGeom prst="rect">
            <a:avLst/>
          </a:prstGeom>
          <a:solidFill>
            <a:srgbClr val="0A2845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22208" y="1353312"/>
            <a:ext cx="32552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CF2"/>
                </a:solidFill>
              </a:rPr>
              <a:t>🔌  External Services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22208" y="1783080"/>
            <a:ext cx="3255264" cy="804672"/>
          </a:xfrm>
          <a:prstGeom prst="rect">
            <a:avLst/>
          </a:prstGeom>
          <a:solidFill>
            <a:srgbClr val="142A40"/>
          </a:solidFill>
          <a:ln w="10160">
            <a:solidFill>
              <a:srgbClr val="00C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13648" y="1837944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5A"/>
                </a:solidFill>
              </a:rPr>
              <a:t>🔒 SSL Certificate Checker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3648" y="2167128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6E0"/>
                </a:solidFill>
              </a:rPr>
              <a:t>ssl + socket · Port 443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22208" y="2715768"/>
            <a:ext cx="3255264" cy="804672"/>
          </a:xfrm>
          <a:prstGeom prst="rect">
            <a:avLst/>
          </a:prstGeom>
          <a:solidFill>
            <a:srgbClr val="142A40"/>
          </a:solidFill>
          <a:ln w="1016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13648" y="2770632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CF2"/>
                </a:solidFill>
              </a:rPr>
              <a:t>🌍 IP Address Resolver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3648" y="3099816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6E0"/>
                </a:solidFill>
              </a:rPr>
              <a:t>socket.gethostbyname()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22208" y="3648456"/>
            <a:ext cx="3255264" cy="804672"/>
          </a:xfrm>
          <a:prstGeom prst="rect">
            <a:avLst/>
          </a:prstGeom>
          <a:solidFill>
            <a:srgbClr val="142A40"/>
          </a:solidFill>
          <a:ln w="101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13648" y="3703320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</a:rPr>
              <a:t>🏢 Hosting Provider Detector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13648" y="4032504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6E0"/>
                </a:solidFill>
              </a:rPr>
              <a:t>Domain keyword lookup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22208" y="4581144"/>
            <a:ext cx="3255264" cy="804672"/>
          </a:xfrm>
          <a:prstGeom prst="rect">
            <a:avLst/>
          </a:prstGeom>
          <a:solidFill>
            <a:srgbClr val="142A40"/>
          </a:solidFill>
          <a:ln w="1016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13648" y="4636008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A00"/>
                </a:solidFill>
              </a:rPr>
              <a:t>📸 Screenshot Capture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13648" y="4965192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6E0"/>
                </a:solidFill>
              </a:rPr>
              <a:t>Playwright headless Chromium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22208" y="5513832"/>
            <a:ext cx="3255264" cy="804672"/>
          </a:xfrm>
          <a:prstGeom prst="rect">
            <a:avLst/>
          </a:prstGeom>
          <a:solidFill>
            <a:srgbClr val="142A40"/>
          </a:solidFill>
          <a:ln w="1016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13648" y="5568696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8D4"/>
                </a:solidFill>
              </a:rPr>
              <a:t>🔗 Brand &amp; TLD Extractor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13648" y="5897880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6E0"/>
                </a:solidFill>
              </a:rPr>
              <a:t>urlparse + domain splitting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3184017"/>
            <a:ext cx="2468880" cy="1905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Class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CF2"/>
                </a:solidFill>
              </a:rPr>
              <a:t>Key classes, attributes, methods and relationships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743200" cy="2926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207008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«class»  FeatureExtractor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81328"/>
            <a:ext cx="2743200" cy="548640"/>
          </a:xfrm>
          <a:prstGeom prst="rect">
            <a:avLst/>
          </a:prstGeom>
          <a:solidFill>
            <a:srgbClr val="122438"/>
          </a:solidFill>
          <a:ln w="762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499616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- url: str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1755648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- parsed_url: ParseResult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029968"/>
            <a:ext cx="2743200" cy="804672"/>
          </a:xfrm>
          <a:prstGeom prst="rect">
            <a:avLst/>
          </a:prstGeom>
          <a:solidFill>
            <a:srgbClr val="142A40"/>
          </a:solidFill>
          <a:ln w="762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2048256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CF2"/>
                </a:solidFill>
              </a:rPr>
              <a:t>+ calculate_entropy(t) → float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2304288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CF2"/>
                </a:solidFill>
              </a:rPr>
              <a:t>+ extract_features(url) → ndarray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2560320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CF2"/>
                </a:solidFill>
              </a:rPr>
              <a:t>+ validate_url() → bool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188720"/>
            <a:ext cx="2743200" cy="292608"/>
          </a:xfrm>
          <a:prstGeom prst="rect">
            <a:avLst/>
          </a:prstGeom>
          <a:solidFill>
            <a:srgbClr val="1A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46704" y="1207008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«class»  URLAnalyzer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1481328"/>
            <a:ext cx="2743200" cy="1060704"/>
          </a:xfrm>
          <a:prstGeom prst="rect">
            <a:avLst/>
          </a:prstGeom>
          <a:solidFill>
            <a:srgbClr val="122438"/>
          </a:solidFill>
          <a:ln w="7620">
            <a:solidFill>
              <a:srgbClr val="1A3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64992" y="1499616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- url: str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2" y="1755648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- domain: str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4992" y="2011680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- brand: str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2" y="2267712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- tld: str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2542032"/>
            <a:ext cx="2743200" cy="804672"/>
          </a:xfrm>
          <a:prstGeom prst="rect">
            <a:avLst/>
          </a:prstGeom>
          <a:solidFill>
            <a:srgbClr val="142A40"/>
          </a:solidFill>
          <a:ln w="7620">
            <a:solidFill>
              <a:srgbClr val="1A3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64992" y="2560320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CF2"/>
                </a:solidFill>
              </a:rPr>
              <a:t>+ extract_brand_and_tld() → dict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64992" y="2816352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CF2"/>
                </a:solidFill>
              </a:rPr>
              <a:t>+ get_host() → str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64992" y="3072384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CF2"/>
                </a:solidFill>
              </a:rPr>
              <a:t>+ analyze() → dict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188720"/>
            <a:ext cx="2743200" cy="292608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207008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«class»  PhishingDetector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481328"/>
            <a:ext cx="2743200" cy="804672"/>
          </a:xfrm>
          <a:prstGeom prst="rect">
            <a:avLst/>
          </a:prstGeom>
          <a:solidFill>
            <a:srgbClr val="122438"/>
          </a:solidFill>
          <a:ln w="762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1499616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- model: KerasModel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1755648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- scaler: StandardScaler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2011680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- threshold: float = 0.5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286000"/>
            <a:ext cx="2743200" cy="1060704"/>
          </a:xfrm>
          <a:prstGeom prst="rect">
            <a:avLst/>
          </a:prstGeom>
          <a:solidFill>
            <a:srgbClr val="142A40"/>
          </a:solidFill>
          <a:ln w="762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2304288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CF2"/>
                </a:solidFill>
              </a:rPr>
              <a:t>+ load_model() → bool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2560320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CF2"/>
                </a:solidFill>
              </a:rPr>
              <a:t>+ predict(features) → dict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2816352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CF2"/>
                </a:solidFill>
              </a:rPr>
              <a:t>+ get_probability() → float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3072384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CF2"/>
                </a:solidFill>
              </a:rPr>
              <a:t>+ classify_threat() → str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160520"/>
            <a:ext cx="2743200" cy="292608"/>
          </a:xfrm>
          <a:prstGeom prst="rect">
            <a:avLst/>
          </a:prstGeom>
          <a:solidFill>
            <a:srgbClr val="00C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" y="4178808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«class»  SSLCertificateChecker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453128"/>
            <a:ext cx="2743200" cy="548640"/>
          </a:xfrm>
          <a:prstGeom prst="rect">
            <a:avLst/>
          </a:prstGeom>
          <a:solidFill>
            <a:srgbClr val="122438"/>
          </a:solidFill>
          <a:ln w="7620">
            <a:solidFill>
              <a:srgbClr val="00C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" y="4471416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- domain: str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" y="4727448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- port: int = 443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001768"/>
            <a:ext cx="2743200" cy="804672"/>
          </a:xfrm>
          <a:prstGeom prst="rect">
            <a:avLst/>
          </a:prstGeom>
          <a:solidFill>
            <a:srgbClr val="142A40"/>
          </a:solidFill>
          <a:ln w="7620">
            <a:solidFill>
              <a:srgbClr val="00C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" y="5020056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CF2"/>
                </a:solidFill>
              </a:rPr>
              <a:t>+ get_certificate() → dict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472" y="5276088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CF2"/>
                </a:solidFill>
              </a:rPr>
              <a:t>+ verify_ssl() → bool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" y="5532120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CF2"/>
                </a:solidFill>
              </a:rPr>
              <a:t>+ check_expiry() → bool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91840" y="4160520"/>
            <a:ext cx="2743200" cy="29260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46704" y="4178808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«class»  ScreenshotCapture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91840" y="4453128"/>
            <a:ext cx="2743200" cy="548640"/>
          </a:xfrm>
          <a:prstGeom prst="rect">
            <a:avLst/>
          </a:prstGeom>
          <a:solidFill>
            <a:srgbClr val="122438"/>
          </a:solidFill>
          <a:ln w="762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64992" y="4471416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- url: str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64992" y="4727448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- timeout: int = 30000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91840" y="5001768"/>
            <a:ext cx="2743200" cy="548640"/>
          </a:xfrm>
          <a:prstGeom prst="rect">
            <a:avLst/>
          </a:prstGeom>
          <a:solidFill>
            <a:srgbClr val="142A40"/>
          </a:solidFill>
          <a:ln w="762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64992" y="5020056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CF2"/>
                </a:solidFill>
              </a:rPr>
              <a:t>+ capture() → bytes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64992" y="5276088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CF2"/>
                </a:solidFill>
              </a:rPr>
              <a:t>+ to_base64() → str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4160520"/>
            <a:ext cx="2743200" cy="29260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64224" y="4178808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«class»  IPAddressResolver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09360" y="4453128"/>
            <a:ext cx="2743200" cy="292608"/>
          </a:xfrm>
          <a:prstGeom prst="rect">
            <a:avLst/>
          </a:prstGeom>
          <a:solidFill>
            <a:srgbClr val="122438"/>
          </a:solidFill>
          <a:ln w="762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82512" y="4471416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- domain: str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4745736"/>
            <a:ext cx="2743200" cy="548640"/>
          </a:xfrm>
          <a:prstGeom prst="rect">
            <a:avLst/>
          </a:prstGeom>
          <a:solidFill>
            <a:srgbClr val="142A40"/>
          </a:solidFill>
          <a:ln w="762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82512" y="4764024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CF2"/>
                </a:solidFill>
              </a:rPr>
              <a:t>+ resolve_ip() → str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82512" y="5020056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CF2"/>
                </a:solidFill>
              </a:rPr>
              <a:t>+ is_ip_address() → bool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35440" y="4160520"/>
            <a:ext cx="2651760" cy="29260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90304" y="4178808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«class»  HostingProviderDetector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35440" y="4453128"/>
            <a:ext cx="2651760" cy="548640"/>
          </a:xfrm>
          <a:prstGeom prst="rect">
            <a:avLst/>
          </a:prstGeom>
          <a:solidFill>
            <a:srgbClr val="122438"/>
          </a:solidFill>
          <a:ln w="762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08592" y="4471416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- domain: str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08592" y="4727448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- providers: dict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35440" y="5001768"/>
            <a:ext cx="2651760" cy="548640"/>
          </a:xfrm>
          <a:prstGeom prst="rect">
            <a:avLst/>
          </a:prstGeom>
          <a:solidFill>
            <a:srgbClr val="142A40"/>
          </a:solidFill>
          <a:ln w="762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308592" y="5020056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CF2"/>
                </a:solidFill>
              </a:rPr>
              <a:t>+ detect_provider() → str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08592" y="5276088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CF2"/>
                </a:solidFill>
              </a:rPr>
              <a:t>+ get_provider_info() → dict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2239899"/>
            <a:ext cx="274320" cy="1905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88920" y="209397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00BCF2"/>
                </a:solidFill>
              </a:rPr>
              <a:t>uses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35040" y="2367915"/>
            <a:ext cx="274320" cy="19050"/>
          </a:xfrm>
          <a:prstGeom prst="rect">
            <a:avLst/>
          </a:prstGeom>
          <a:solidFill>
            <a:srgbClr val="1A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806440" y="22219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00BCF2"/>
                </a:solidFill>
              </a:rPr>
              <a:t>feeds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663440" y="3853815"/>
            <a:ext cx="3017520" cy="1905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806440" y="37078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00BCF2"/>
                </a:solidFill>
              </a:rPr>
              <a:t>calls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36395" y="3054096"/>
            <a:ext cx="19050" cy="1106424"/>
          </a:xfrm>
          <a:prstGeom prst="rect">
            <a:avLst/>
          </a:prstGeom>
          <a:solidFill>
            <a:srgbClr val="00C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280160" y="34518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00BCF2"/>
                </a:solidFill>
              </a:rPr>
              <a:t>→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Technology Stack &amp; Dependencies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3749039" cy="2423160"/>
          </a:xfrm>
          <a:prstGeom prst="rect">
            <a:avLst/>
          </a:prstGeom>
          <a:solidFill>
            <a:srgbClr val="142A40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3075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441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8D4"/>
                </a:solidFill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28800"/>
            <a:ext cx="3520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Flask 2.x  — web micro-framework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Flask-CORS — cross-origin support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Python 3.8+ — runtime environment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Joblib — scaler serialisation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234440"/>
            <a:ext cx="3749039" cy="2423160"/>
          </a:xfrm>
          <a:prstGeom prst="rect">
            <a:avLst/>
          </a:prstGeom>
          <a:solidFill>
            <a:srgbClr val="142A40"/>
          </a:solidFill>
          <a:ln w="1270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7" y="13075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79" y="13441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F2"/>
                </a:solidFill>
              </a:rPr>
              <a:t>Deep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7" y="1828800"/>
            <a:ext cx="3520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TensorFlow 2.x / Keras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CNN (Conv1D) + LSTM layers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Binary cross-entropy loss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Adam optimiser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8" y="1234440"/>
            <a:ext cx="3749039" cy="2423160"/>
          </a:xfrm>
          <a:prstGeom prst="rect">
            <a:avLst/>
          </a:prstGeom>
          <a:solidFill>
            <a:srgbClr val="142A4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6" y="13075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18" y="13441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Data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6" y="1828800"/>
            <a:ext cx="3520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NumPy — numerical arrays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Scikit-learn StandardScaler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Pandas (training pipeline)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Math / Re modules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86200"/>
            <a:ext cx="3749039" cy="2423160"/>
          </a:xfrm>
          <a:prstGeom prst="rect">
            <a:avLst/>
          </a:prstGeom>
          <a:solidFill>
            <a:srgbClr val="142A40"/>
          </a:solidFill>
          <a:ln w="1270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9593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9959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A00"/>
                </a:solidFill>
              </a:rPr>
              <a:t>Web 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480560"/>
            <a:ext cx="3520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Playwright (headless Chromium)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Screenshot capture at 30 s timeout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User-agent spoofing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Base64 encoding output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3886200"/>
            <a:ext cx="3749039" cy="2423160"/>
          </a:xfrm>
          <a:prstGeom prst="rect">
            <a:avLst/>
          </a:prstGeom>
          <a:solidFill>
            <a:srgbClr val="142A40"/>
          </a:solidFill>
          <a:ln w="12700">
            <a:solidFill>
              <a:srgbClr val="00C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1687" y="39593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79" y="39959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5A"/>
                </a:solidFill>
              </a:rPr>
              <a:t>Security Modules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7" y="4480560"/>
            <a:ext cx="3520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ssl — certificate verification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socket — DNS &amp; TCP connections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urllib — URL parsing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datetime — timestamping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598" y="3886200"/>
            <a:ext cx="3749039" cy="2423160"/>
          </a:xfrm>
          <a:prstGeom prst="rect">
            <a:avLst/>
          </a:prstGeom>
          <a:solidFill>
            <a:srgbClr val="142A40"/>
          </a:solidFill>
          <a:ln w="12700">
            <a:solidFill>
              <a:srgbClr val="1A3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6" y="39593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18" y="39959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F6B"/>
                </a:solidFill>
              </a:rPr>
              <a:t>Frontend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6" y="4480560"/>
            <a:ext cx="3520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HTML5 + CSS3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Vanilla JavaScript (ES6+)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Responsive design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REST API via Fetch / XHR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 Flow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CF2"/>
                </a:solidFill>
              </a:rPr>
              <a:t>URL input → feature extraction → prediction →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029200" cy="566928"/>
          </a:xfrm>
          <a:prstGeom prst="rect">
            <a:avLst/>
          </a:prstGeom>
          <a:solidFill>
            <a:srgbClr val="142A40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84048" cy="5669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28016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2252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8D4"/>
                </a:solidFill>
              </a:rPr>
              <a:t>User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48132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User enters URL in web browser frontend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2275" y="1755648"/>
            <a:ext cx="1905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810512"/>
            <a:ext cx="5029200" cy="566928"/>
          </a:xfrm>
          <a:prstGeom prst="rect">
            <a:avLst/>
          </a:prstGeom>
          <a:solidFill>
            <a:srgbClr val="142A40"/>
          </a:solidFill>
          <a:ln w="12700">
            <a:solidFill>
              <a:srgbClr val="1A3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810512"/>
            <a:ext cx="384048" cy="566928"/>
          </a:xfrm>
          <a:prstGeom prst="rect">
            <a:avLst/>
          </a:prstGeom>
          <a:solidFill>
            <a:srgbClr val="1A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90195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847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F6B"/>
                </a:solidFill>
              </a:rPr>
              <a:t>URL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10312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Normalise URL, add http:// prefix if missing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62275" y="2377440"/>
            <a:ext cx="19050" cy="54864"/>
          </a:xfrm>
          <a:prstGeom prst="rect">
            <a:avLst/>
          </a:prstGeom>
          <a:solidFill>
            <a:srgbClr val="1A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432304"/>
            <a:ext cx="5029200" cy="566928"/>
          </a:xfrm>
          <a:prstGeom prst="rect">
            <a:avLst/>
          </a:prstGeom>
          <a:solidFill>
            <a:srgbClr val="142A40"/>
          </a:solidFill>
          <a:ln w="1270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32304"/>
            <a:ext cx="384048" cy="566928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252374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CF2"/>
                </a:solidFill>
              </a:rPr>
              <a:t>Feature Extraction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72491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14 statistical &amp; structural features computed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62275" y="2999232"/>
            <a:ext cx="19050" cy="54864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054096"/>
            <a:ext cx="5029200" cy="566928"/>
          </a:xfrm>
          <a:prstGeom prst="rect">
            <a:avLst/>
          </a:prstGeom>
          <a:solidFill>
            <a:srgbClr val="142A4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054096"/>
            <a:ext cx="384048" cy="56692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31455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0906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</a:rPr>
              <a:t>Feature Scaling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34670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StandardScaler transforms to zero-mean/unit-var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62275" y="3621024"/>
            <a:ext cx="1905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675888"/>
            <a:ext cx="5029200" cy="566928"/>
          </a:xfrm>
          <a:prstGeom prst="rect">
            <a:avLst/>
          </a:prstGeom>
          <a:solidFill>
            <a:srgbClr val="142A40"/>
          </a:solidFill>
          <a:ln w="1270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675888"/>
            <a:ext cx="384048" cy="56692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3767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37124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</a:rPr>
              <a:t>CNN/LSTM Inference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396849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Model predicts phishing probability (0.0–1.0)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62275" y="4242816"/>
            <a:ext cx="19050" cy="54864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297680"/>
            <a:ext cx="5029200" cy="566928"/>
          </a:xfrm>
          <a:prstGeom prst="rect">
            <a:avLst/>
          </a:prstGeom>
          <a:solidFill>
            <a:srgbClr val="142A40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297680"/>
            <a:ext cx="384048" cy="566928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" y="438912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3342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545"/>
                </a:solidFill>
              </a:rPr>
              <a:t>Threat Classification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59028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Prob &gt; 0.5 → Phishing  |  Prob ≤ 0.5 → Safe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62275" y="4864608"/>
            <a:ext cx="19050" cy="54864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4919472"/>
            <a:ext cx="5029200" cy="566928"/>
          </a:xfrm>
          <a:prstGeom prst="rect">
            <a:avLst/>
          </a:prstGeom>
          <a:solidFill>
            <a:srgbClr val="142A40"/>
          </a:solidFill>
          <a:ln w="12700">
            <a:solidFill>
              <a:srgbClr val="00C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4919472"/>
            <a:ext cx="384048" cy="566928"/>
          </a:xfrm>
          <a:prstGeom prst="rect">
            <a:avLst/>
          </a:prstGeom>
          <a:solidFill>
            <a:srgbClr val="00C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" y="501091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4956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5A"/>
                </a:solidFill>
              </a:rPr>
              <a:t>Metadata Collection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521208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SSL cert · IP · Hosting · Screenshot captured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62275" y="5486400"/>
            <a:ext cx="19050" cy="54864"/>
          </a:xfrm>
          <a:prstGeom prst="rect">
            <a:avLst/>
          </a:prstGeom>
          <a:solidFill>
            <a:srgbClr val="00C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5541264"/>
            <a:ext cx="5029200" cy="566928"/>
          </a:xfrm>
          <a:prstGeom prst="rect">
            <a:avLst/>
          </a:prstGeom>
          <a:solidFill>
            <a:srgbClr val="142A40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200" y="5541264"/>
            <a:ext cx="384048" cy="5669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8" y="563270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5577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8D4"/>
                </a:solidFill>
              </a:rPr>
              <a:t>JSON Response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583387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Structured result sent back to browser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60720" y="1188720"/>
            <a:ext cx="6035040" cy="5486400"/>
          </a:xfrm>
          <a:prstGeom prst="rect">
            <a:avLst/>
          </a:prstGeom>
          <a:solidFill>
            <a:srgbClr val="142A40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0" y="12618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CF2"/>
                </a:solidFill>
              </a:rPr>
              <a:t>📦  Data Structures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</a:rPr>
              <a:t>Input JSON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0" y="1947672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{ "url": "https://example.com" }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</a:rPr>
              <a:t>Feature Vector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0" y="2816352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numpy.ndarray  shape (1, 14)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0" y="3429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</a:rPr>
              <a:t>Scaled Vector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0" y="3685032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numpy.ndarray  shape (1, 14, 1)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0" y="4297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</a:rPr>
              <a:t>Model Output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3600" y="4553712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float  ∈ [0.0, 1.0]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5166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</a:rPr>
              <a:t>Response JSON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43600" y="5422392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{
  "status": "Phishing",
  "message": "Danger! 87.3%",
  "color": "red",
  "screenshot": "data:...",
  "certificate": {...},
  "ip_address": "...",
  "detection_date": "..."
}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Deep Learning Model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CF2"/>
                </a:solidFill>
              </a:rPr>
              <a:t>CNN/LSTM hybrid for URL phishing classification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74520" y="1234440"/>
            <a:ext cx="2743200" cy="621792"/>
          </a:xfrm>
          <a:prstGeom prst="rect">
            <a:avLst/>
          </a:prstGeom>
          <a:solidFill>
            <a:srgbClr val="142A40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4248" y="1289304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8D4"/>
                </a:solidFill>
              </a:rPr>
              <a:t>Input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4248" y="1545336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Shape: (1, 14, 1)  — 14 URL features reshaped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6595" y="1856232"/>
            <a:ext cx="19050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74520" y="1892808"/>
            <a:ext cx="2743200" cy="621792"/>
          </a:xfrm>
          <a:prstGeom prst="rect">
            <a:avLst/>
          </a:prstGeom>
          <a:solidFill>
            <a:srgbClr val="142A40"/>
          </a:solidFill>
          <a:ln w="1524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4248" y="1947672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CF2"/>
                </a:solidFill>
              </a:rPr>
              <a:t>Conv1D  ×2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4248" y="2203704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filters=64/128, kernel=3, activation=ReLU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6595" y="2514600"/>
            <a:ext cx="19050" cy="36576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48840" y="2551176"/>
            <a:ext cx="2194560" cy="621792"/>
          </a:xfrm>
          <a:prstGeom prst="rect">
            <a:avLst/>
          </a:prstGeom>
          <a:solidFill>
            <a:srgbClr val="142A40"/>
          </a:solidFill>
          <a:ln w="15240">
            <a:solidFill>
              <a:srgbClr val="1A3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58568" y="2606040"/>
            <a:ext cx="1975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F6B"/>
                </a:solidFill>
              </a:rPr>
              <a:t>MaxPooling1D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58568" y="2862072"/>
            <a:ext cx="1975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pool_size=2 — reduces dimensionality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36595" y="3172968"/>
            <a:ext cx="19050" cy="36576"/>
          </a:xfrm>
          <a:prstGeom prst="rect">
            <a:avLst/>
          </a:prstGeom>
          <a:solidFill>
            <a:srgbClr val="1A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74520" y="3209544"/>
            <a:ext cx="2743200" cy="621792"/>
          </a:xfrm>
          <a:prstGeom prst="rect">
            <a:avLst/>
          </a:prstGeom>
          <a:solidFill>
            <a:srgbClr val="142A40"/>
          </a:solidFill>
          <a:ln w="1524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84248" y="3264408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CF2"/>
                </a:solidFill>
              </a:rPr>
              <a:t>LSTM  ×2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84248" y="3520440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units=64/32, return_sequences for intermediate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36595" y="3831336"/>
            <a:ext cx="19050" cy="36576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48840" y="3867912"/>
            <a:ext cx="2194560" cy="621792"/>
          </a:xfrm>
          <a:prstGeom prst="rect">
            <a:avLst/>
          </a:prstGeom>
          <a:solidFill>
            <a:srgbClr val="142A40"/>
          </a:solidFill>
          <a:ln w="1524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58568" y="3922776"/>
            <a:ext cx="1975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</a:rPr>
              <a:t>Dropout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58568" y="4178808"/>
            <a:ext cx="1975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rate=0.3 — regularisation to prevent overfitting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36595" y="4489704"/>
            <a:ext cx="19050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74520" y="4526280"/>
            <a:ext cx="2743200" cy="621792"/>
          </a:xfrm>
          <a:prstGeom prst="rect">
            <a:avLst/>
          </a:prstGeom>
          <a:solidFill>
            <a:srgbClr val="142A40"/>
          </a:solidFill>
          <a:ln w="1524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84248" y="4581144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</a:rPr>
              <a:t>Dense (64 units)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84248" y="4837176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activation=ReLU, Batch Normalisation applied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36595" y="5148072"/>
            <a:ext cx="19050" cy="36576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74520" y="5184648"/>
            <a:ext cx="2743200" cy="621792"/>
          </a:xfrm>
          <a:prstGeom prst="rect">
            <a:avLst/>
          </a:prstGeom>
          <a:solidFill>
            <a:srgbClr val="142A40"/>
          </a:solidFill>
          <a:ln w="15240">
            <a:solidFill>
              <a:srgbClr val="00C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84248" y="5239512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5A"/>
                </a:solidFill>
              </a:rPr>
              <a:t>Output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84248" y="5495544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1 neuron, activation=Sigmoid  → probability [0,1]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188720"/>
            <a:ext cx="5486400" cy="5486400"/>
          </a:xfrm>
          <a:prstGeom prst="rect">
            <a:avLst/>
          </a:prstGeom>
          <a:solidFill>
            <a:srgbClr val="142A40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12618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CF2"/>
                </a:solidFill>
              </a:rPr>
              <a:t>🏋  Training Configuration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1691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</a:rPr>
              <a:t>Loss Function: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1691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Binary Cross-Entropy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2148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</a:rPr>
              <a:t>Optimiser: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Adam (lr = 1e-3)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26060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</a:rPr>
              <a:t>Epochs: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2606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50 with early stopping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3063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</a:rPr>
              <a:t>Batch Size: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30632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32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35204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</a:rPr>
              <a:t>Validation Split: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3520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20 %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3977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</a:rPr>
              <a:t>Train/Test Split: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3977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80 % / 20 %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7960" y="4434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</a:rPr>
              <a:t>Input Shape: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4434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(1, 14, 1)  [batch, timestep, feat]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48920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</a:rPr>
              <a:t>Saved Model: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4892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best_phishing_model.h5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60" y="5349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</a:rPr>
              <a:t>Scaler: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8240" y="53492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scaler.pkl  (StandardScaler)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37960" y="58064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</a:rPr>
              <a:t>Threshold: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8240" y="5806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0.5  (prob &gt; 0.5 → Phishing)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Feature Extraction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CF2"/>
                </a:solidFill>
              </a:rPr>
              <a:t>14 URL-based features used as model 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234440"/>
            <a:ext cx="5806440" cy="65836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234440"/>
            <a:ext cx="502920" cy="65836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" y="1399032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28930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CF2"/>
                </a:solidFill>
              </a:rPr>
              <a:t>URL Length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5453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C107"/>
                </a:solidFill>
              </a:rPr>
              <a:t>len(url)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32588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Phishing URLs are typically longer than legitimate ones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234440"/>
            <a:ext cx="5806440" cy="65836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234440"/>
            <a:ext cx="502920" cy="65836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1399032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128930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CF2"/>
                </a:solidFill>
              </a:rPr>
              <a:t>Domain Length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15453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C107"/>
                </a:solidFill>
              </a:rPr>
              <a:t>len(parsed.netloc)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132588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Suspicious domains often use unusually long hostnames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1965960"/>
            <a:ext cx="5806440" cy="65836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1965960"/>
            <a:ext cx="502920" cy="65836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" y="2130552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#3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202082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CF2"/>
                </a:solidFill>
              </a:rPr>
              <a:t>URL Entropy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22768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C107"/>
                </a:solidFill>
              </a:rPr>
              <a:t>calculate_entropy(url)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205740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High randomness in URL characters indicates obfuscation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965960"/>
            <a:ext cx="5806440" cy="65836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1965960"/>
            <a:ext cx="502920" cy="65836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81928" y="2130552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202082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CF2"/>
                </a:solidFill>
              </a:rPr>
              <a:t>Dot Count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22768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C107"/>
                </a:solidFill>
              </a:rPr>
              <a:t>domain.count('.')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205740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Multiple subdomains (dots) are common in phishing URLs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2697480"/>
            <a:ext cx="5806440" cy="65836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8600" y="2697480"/>
            <a:ext cx="502920" cy="65836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" y="2862072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#5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" y="27523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CF2"/>
                </a:solidFill>
              </a:rPr>
              <a:t>Digit Count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" y="300837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C107"/>
                </a:solidFill>
              </a:rPr>
              <a:t>sum(c.isdigit() for c in u)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278892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Excessive digits correlate with auto-generated domains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2697480"/>
            <a:ext cx="5806440" cy="65836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2697480"/>
            <a:ext cx="502920" cy="65836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81928" y="2862072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#6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0568" y="27523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CF2"/>
                </a:solidFill>
              </a:rPr>
              <a:t>Special Characters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0568" y="300837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C107"/>
                </a:solidFill>
              </a:rPr>
              <a:t>re.findall(@_!#$%…)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278892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Special chars like @, !, # used for URL obfuscation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3429000"/>
            <a:ext cx="5806440" cy="65836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28600" y="3429000"/>
            <a:ext cx="502920" cy="65836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6888" y="3593592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#7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8" y="34838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CF2"/>
                </a:solidFill>
              </a:rPr>
              <a:t>Slash Count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8" y="37398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C107"/>
                </a:solidFill>
              </a:rPr>
              <a:t>url.count('/')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0" y="352044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Deep paths with many slashes indicate complex redirects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3429000"/>
            <a:ext cx="5806440" cy="65836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63640" y="3429000"/>
            <a:ext cx="502920" cy="65836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81928" y="3593592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#8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0568" y="34838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CF2"/>
                </a:solidFill>
              </a:rPr>
              <a:t>HTTPS Check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30568" y="37398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C107"/>
                </a:solidFill>
              </a:rPr>
              <a:t>1 if https else 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352044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HTTPS presence is a weak positive legitimacy signal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4160520"/>
            <a:ext cx="5806440" cy="65836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28600" y="4160520"/>
            <a:ext cx="502920" cy="65836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6888" y="4325112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#9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528" y="421538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CF2"/>
                </a:solidFill>
              </a:rPr>
              <a:t>Domain Entropy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8" y="44714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C107"/>
                </a:solidFill>
              </a:rPr>
              <a:t>calculate_entropy(domain)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74720" y="425196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Random-looking domain names are phishing indicators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63640" y="4160520"/>
            <a:ext cx="5806440" cy="65836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63640" y="4160520"/>
            <a:ext cx="502920" cy="65836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81928" y="4325112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#10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30568" y="421538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CF2"/>
                </a:solidFill>
              </a:rPr>
              <a:t>Suspicious Keywords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30568" y="44714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C107"/>
                </a:solidFill>
              </a:rPr>
              <a:t>'login','secure','bank'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09760" y="425196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Impersonation keywords trigger extra scrutiny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" y="4892040"/>
            <a:ext cx="5806440" cy="65836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28600" y="4892040"/>
            <a:ext cx="502920" cy="65836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46888" y="5056632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#11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5528" y="494690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CF2"/>
                </a:solidFill>
              </a:rPr>
              <a:t>IP-based Domain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5528" y="52029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C107"/>
                </a:solidFill>
              </a:rPr>
              <a:t>re.search(\d+\.\d+…)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74720" y="498348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Direct IP addresses instead of domain names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63640" y="4892040"/>
            <a:ext cx="5806440" cy="65836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63640" y="4892040"/>
            <a:ext cx="502920" cy="65836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81928" y="5056632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#12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30568" y="494690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CF2"/>
                </a:solidFill>
              </a:rPr>
              <a:t>Hyphen Count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30568" y="52029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C107"/>
                </a:solidFill>
              </a:rPr>
              <a:t>url.count('-')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09760" y="498348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Multiple hyphens mimic legitimate brand variations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8600" y="5623560"/>
            <a:ext cx="5806440" cy="65836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28600" y="5623560"/>
            <a:ext cx="502920" cy="65836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46888" y="5788152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#13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95528" y="567842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CF2"/>
                </a:solidFill>
              </a:rPr>
              <a:t>Query String Length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95528" y="59344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C107"/>
                </a:solidFill>
              </a:rPr>
              <a:t>len(parsed.query)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74720" y="571500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Long query strings may hide malicious parameters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63640" y="5623560"/>
            <a:ext cx="5806440" cy="658368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263640" y="5623560"/>
            <a:ext cx="502920" cy="65836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281928" y="5788152"/>
            <a:ext cx="466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#14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30568" y="567842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CF2"/>
                </a:solidFill>
              </a:rPr>
              <a:t>@ Symbol Presence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30568" y="59344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C107"/>
                </a:solidFill>
              </a:rPr>
              <a:t>1 if '@' in url else 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509760" y="571500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@ tricks browsers into ignoring the real hostname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Machine Learning Model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CF2"/>
                </a:solidFill>
              </a:rPr>
              <a:t>Dataset, preprocessing pipeline and training procedure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486400" cy="237744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526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F2"/>
                </a:solidFill>
              </a:rPr>
              <a:t>📂 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618488"/>
            <a:ext cx="526694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Phishing URL dataset (~88 K URLs total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50 % Legitimate  /  50 % Phishing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Source: UCIML Phishing URL Repository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No image or HTML content — pure URL strings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749039"/>
            <a:ext cx="5486400" cy="283464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3822191"/>
            <a:ext cx="526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⚙  Preprocessing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4133087"/>
            <a:ext cx="5266944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1. URL normalisation (lowercase + prefix)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2. 14 features extracted per URL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3. StandardScaler fit on training set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4. Reshape to (N, 14, 1) for CNN/LSTM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5. Train/test split 80/20 with shuffle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6. Saved: scaler.pkl &amp; best_phishing_model.h5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34440"/>
            <a:ext cx="5943600" cy="237744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3328" y="1307592"/>
            <a:ext cx="5724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5A"/>
                </a:solidFill>
              </a:rPr>
              <a:t>🏋  Training Configuration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1618488"/>
            <a:ext cx="572414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Loss: Binary Cross-Entropy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Optimiser: Adam (learning rate 1×10⁻³)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Epochs: 50 with EarlyStopping patience=5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Batch size: 32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ModelCheckpoint saves best val_accuracy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3749039"/>
            <a:ext cx="5943600" cy="283464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53328" y="3822191"/>
            <a:ext cx="5724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A00"/>
                </a:solidFill>
              </a:rPr>
              <a:t>🔍  Model Selection Criteria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4133087"/>
            <a:ext cx="5724144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Primary: Validation Accuracy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Secondary: Minimise False Negatives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Best model stored as best_phishing_model.h5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Scaler persisted to scaler.pkl via Joblib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Loaded at Flask server startup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 Accuracy &amp; Performance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CF2"/>
                </a:solidFill>
              </a:rPr>
              <a:t>Classification results and evaluation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749039" cy="1783080"/>
          </a:xfrm>
          <a:prstGeom prst="rect">
            <a:avLst/>
          </a:prstGeom>
          <a:solidFill>
            <a:srgbClr val="142A40"/>
          </a:solidFill>
          <a:ln w="19050">
            <a:solidFill>
              <a:srgbClr val="00C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44168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85A"/>
                </a:solidFill>
              </a:rPr>
              <a:t>97.2 %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3911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377440"/>
            <a:ext cx="3529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E0"/>
                </a:solidFill>
              </a:rPr>
              <a:t>Overall correct predictions on test 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234440"/>
            <a:ext cx="3749039" cy="1783080"/>
          </a:xfrm>
          <a:prstGeom prst="rect">
            <a:avLst/>
          </a:prstGeom>
          <a:solidFill>
            <a:srgbClr val="142A40"/>
          </a:solidFill>
          <a:ln w="1905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19" y="1344168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CF2"/>
                </a:solidFill>
              </a:rPr>
              <a:t>96.8 %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19" y="203911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7" y="2377440"/>
            <a:ext cx="3529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E0"/>
                </a:solidFill>
              </a:rPr>
              <a:t>Of predicted phishing, % truly phishing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598" y="1234440"/>
            <a:ext cx="3749039" cy="1783080"/>
          </a:xfrm>
          <a:prstGeom prst="rect">
            <a:avLst/>
          </a:prstGeom>
          <a:solidFill>
            <a:srgbClr val="142A40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8" y="1344168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78D4"/>
                </a:solidFill>
              </a:rPr>
              <a:t>97.5 %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8" y="203911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6" y="2377440"/>
            <a:ext cx="3529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E0"/>
                </a:solidFill>
              </a:rPr>
              <a:t>Of real phishing URLs, % correctly caught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00400"/>
            <a:ext cx="3749039" cy="1783080"/>
          </a:xfrm>
          <a:prstGeom prst="rect">
            <a:avLst/>
          </a:prstGeom>
          <a:solidFill>
            <a:srgbClr val="142A40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310128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C107"/>
                </a:solidFill>
              </a:rPr>
              <a:t>0.971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0050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343400"/>
            <a:ext cx="3529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E0"/>
                </a:solidFill>
              </a:rPr>
              <a:t>Harmonic mean of Precision and Recall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3200400"/>
            <a:ext cx="3749039" cy="1783080"/>
          </a:xfrm>
          <a:prstGeom prst="rect">
            <a:avLst/>
          </a:prstGeom>
          <a:solidFill>
            <a:srgbClr val="142A40"/>
          </a:solidFill>
          <a:ln w="1905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19" y="3310128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7A00"/>
                </a:solidFill>
              </a:rPr>
              <a:t>0.989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19" y="40050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AUC-ROC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7" y="4343400"/>
            <a:ext cx="3529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E0"/>
                </a:solidFill>
              </a:rPr>
              <a:t>Area under receiver-operating curve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598" y="3200400"/>
            <a:ext cx="3749039" cy="1783080"/>
          </a:xfrm>
          <a:prstGeom prst="rect">
            <a:avLst/>
          </a:prstGeom>
          <a:solidFill>
            <a:srgbClr val="142A40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58" y="3310128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4545"/>
                </a:solidFill>
              </a:rPr>
              <a:t>2.8 %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8" y="40050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FP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6" y="4343400"/>
            <a:ext cx="3529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E0"/>
                </a:solidFill>
              </a:rPr>
              <a:t>Legitimate URLs incorrectly flagged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166360"/>
            <a:ext cx="11612880" cy="146304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2303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CF2"/>
                </a:solidFill>
              </a:rPr>
              <a:t>Confusion Matrix Overview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5321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545"/>
                </a:solidFill>
              </a:rPr>
              <a:t>TP – True Positives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8064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Phishing correctly detected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55321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5A"/>
                </a:solidFill>
              </a:rPr>
              <a:t>TN – True Negatives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58064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Safe URLs correctly passed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55321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</a:rPr>
              <a:t>FP – False Positives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58064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Safe URLs flagged (2.8 %)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55321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A00"/>
                </a:solidFill>
              </a:rPr>
              <a:t>FN – False Negatives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58064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</a:rPr>
              <a:t>Phishing URLs missed (2.5 %)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Web Application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CF2"/>
                </a:solidFill>
              </a:rPr>
              <a:t>Flask backend + HTML/JS frontend capabilities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749039" cy="2423160"/>
          </a:xfrm>
          <a:prstGeom prst="rect">
            <a:avLst/>
          </a:prstGeom>
          <a:solidFill>
            <a:srgbClr val="142A40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441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</a:rPr>
              <a:t>Real-Time URL Scanning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828800"/>
            <a:ext cx="3520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POST /scan endpoint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URL validation &amp; normalisation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Sub-second response time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JSON structured responses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234440"/>
            <a:ext cx="3749039" cy="2423160"/>
          </a:xfrm>
          <a:prstGeom prst="rect">
            <a:avLst/>
          </a:prstGeom>
          <a:solidFill>
            <a:srgbClr val="142A40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7" y="13075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79" y="13441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545"/>
                </a:solidFill>
              </a:rPr>
              <a:t>Threat Level Indicators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7" y="1828800"/>
            <a:ext cx="3520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Color-coded results (🟢🔴🟡)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Phishing probability percentage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Warning banners for phishing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Status messages per category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598" y="1234440"/>
            <a:ext cx="3749039" cy="2423160"/>
          </a:xfrm>
          <a:prstGeom prst="rect">
            <a:avLst/>
          </a:prstGeom>
          <a:solidFill>
            <a:srgbClr val="142A40"/>
          </a:solidFill>
          <a:ln w="12700">
            <a:solidFill>
              <a:srgbClr val="00C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6" y="13075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8" y="13441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5A"/>
                </a:solidFill>
              </a:rPr>
              <a:t>SSL Certificate Info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6" y="1828800"/>
            <a:ext cx="3520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Certificate issuer name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Domain verification status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Port 443 TCP inspection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Fallback for unreachable sites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86200"/>
            <a:ext cx="3749039" cy="2423160"/>
          </a:xfrm>
          <a:prstGeom prst="rect">
            <a:avLst/>
          </a:prstGeom>
          <a:solidFill>
            <a:srgbClr val="142A40"/>
          </a:solidFill>
          <a:ln w="1270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9593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9959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A00"/>
                </a:solidFill>
              </a:rPr>
              <a:t>Screenshot Preview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480560"/>
            <a:ext cx="3520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Playwright headless Chromium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Base64-encoded PNG returned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30-second capture timeout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Falls back gracefully on error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3886200"/>
            <a:ext cx="3749039" cy="2423160"/>
          </a:xfrm>
          <a:prstGeom prst="rect">
            <a:avLst/>
          </a:prstGeom>
          <a:solidFill>
            <a:srgbClr val="142A40"/>
          </a:solidFill>
          <a:ln w="1270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7" y="39593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79" y="39959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CF2"/>
                </a:solidFill>
              </a:rPr>
              <a:t>Domain &amp; IP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7" y="4480560"/>
            <a:ext cx="3520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Brand &amp; TLD extraction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IP address via DNS lookup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Hosting provider detection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Detection date/time logging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598" y="3886200"/>
            <a:ext cx="3749039" cy="2423160"/>
          </a:xfrm>
          <a:prstGeom prst="rect">
            <a:avLst/>
          </a:prstGeom>
          <a:solidFill>
            <a:srgbClr val="142A40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6" y="39593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18" y="39959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History &amp; 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6" y="4480560"/>
            <a:ext cx="3520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Client-side scan history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Clear all history button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Display of all past results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0"/>
                </a:solidFill>
              </a:rPr>
              <a:t>• Persistent across page visits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Security &amp; Validation Mechanisms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CF2"/>
                </a:solidFill>
              </a:rPr>
              <a:t>Multi-layer defences built into the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669280" cy="1691640"/>
          </a:xfrm>
          <a:prstGeom prst="rect">
            <a:avLst/>
          </a:prstGeom>
          <a:solidFill>
            <a:srgbClr val="142A40"/>
          </a:solidFill>
          <a:ln w="1016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3441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</a:rPr>
              <a:t>URL Input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78308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CCD6E0"/>
                </a:solidFill>
              </a:rPr>
              <a:t>• Schema check (http / https)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CCD6E0"/>
                </a:solidFill>
              </a:rPr>
              <a:t>• Protocol prefix auto-added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CCD6E0"/>
                </a:solidFill>
              </a:rPr>
              <a:t>• Malformed URL exception handling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CCD6E0"/>
                </a:solidFill>
              </a:rPr>
              <a:t>• Empty / None input rejected with 400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5669280" cy="1691640"/>
          </a:xfrm>
          <a:prstGeom prst="rect">
            <a:avLst/>
          </a:prstGeom>
          <a:solidFill>
            <a:srgbClr val="142A40"/>
          </a:solidFill>
          <a:ln w="10160">
            <a:solidFill>
              <a:srgbClr val="00C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30759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3441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5A"/>
                </a:solidFill>
              </a:rPr>
              <a:t>SSL Certificate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178308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CCD6E0"/>
                </a:solidFill>
              </a:rPr>
              <a:t>• Context: ssl.create_default_context()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CCD6E0"/>
                </a:solidFill>
              </a:rPr>
              <a:t>• Port 443 TCP connection with 5 s timeout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CCD6E0"/>
                </a:solidFill>
              </a:rPr>
              <a:t>• Extracts issuer organisationName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CCD6E0"/>
                </a:solidFill>
              </a:rPr>
              <a:t>• Returns verified: False on any exception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063240"/>
            <a:ext cx="5669280" cy="1691640"/>
          </a:xfrm>
          <a:prstGeom prst="rect">
            <a:avLst/>
          </a:prstGeom>
          <a:solidFill>
            <a:srgbClr val="142A40"/>
          </a:solidFill>
          <a:ln w="1016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313639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1729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CF2"/>
                </a:solidFill>
              </a:rPr>
              <a:t>IP Resolution &amp; DNS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61188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CCD6E0"/>
                </a:solidFill>
              </a:rPr>
              <a:t>• socket.gethostbyname() with error guard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CCD6E0"/>
                </a:solidFill>
              </a:rPr>
              <a:t>• Returns 'Unknown' on NXDomain / timeout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CCD6E0"/>
                </a:solidFill>
              </a:rPr>
              <a:t>• Domain stripped of port number first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CCD6E0"/>
                </a:solidFill>
              </a:rPr>
              <a:t>• Works with both IPv4 and domain names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063240"/>
            <a:ext cx="5669280" cy="1691640"/>
          </a:xfrm>
          <a:prstGeom prst="rect">
            <a:avLst/>
          </a:prstGeom>
          <a:solidFill>
            <a:srgbClr val="142A40"/>
          </a:solidFill>
          <a:ln w="1016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313639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1729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A00"/>
                </a:solidFill>
              </a:rPr>
              <a:t>Screenshot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61188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CCD6E0"/>
                </a:solidFill>
              </a:rPr>
              <a:t>• Headless browser — no UI shown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CCD6E0"/>
                </a:solidFill>
              </a:rPr>
              <a:t>• 30 000 ms page load timeout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CCD6E0"/>
                </a:solidFill>
              </a:rPr>
              <a:t>• Custom User-Agent header set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CCD6E0"/>
                </a:solidFill>
              </a:rPr>
              <a:t>• Exception caught → returns None safely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892040"/>
            <a:ext cx="5669280" cy="1691640"/>
          </a:xfrm>
          <a:prstGeom prst="rect">
            <a:avLst/>
          </a:prstGeom>
          <a:solidFill>
            <a:srgbClr val="142A40"/>
          </a:solidFill>
          <a:ln w="101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496519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0017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CORS Protection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544068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CCD6E0"/>
                </a:solidFill>
              </a:rPr>
              <a:t>• Flask-CORS enabled globally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CCD6E0"/>
                </a:solidFill>
              </a:rPr>
              <a:t>• Restricts cross-origin API misuse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CCD6E0"/>
                </a:solidFill>
              </a:rPr>
              <a:t>• JSON-only request bodies accepted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CCD6E0"/>
                </a:solidFill>
              </a:rPr>
              <a:t>• 400 returned for missing / empty input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892040"/>
            <a:ext cx="5669280" cy="1691640"/>
          </a:xfrm>
          <a:prstGeom prst="rect">
            <a:avLst/>
          </a:prstGeom>
          <a:solidFill>
            <a:srgbClr val="142A40"/>
          </a:solidFill>
          <a:ln w="1016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496519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50017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545"/>
                </a:solidFill>
              </a:rPr>
              <a:t>Error Handling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544068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CCD6E0"/>
                </a:solidFill>
              </a:rPr>
              <a:t>• All functions wrapped in try/except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CCD6E0"/>
                </a:solidFill>
              </a:rPr>
              <a:t>• Graceful degradation on service failure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CCD6E0"/>
                </a:solidFill>
              </a:rPr>
              <a:t>• 500 JSON error returned on crash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CCD6E0"/>
                </a:solidFill>
              </a:rPr>
              <a:t>• Prediction failure returns orange status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 &amp;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CF2"/>
                </a:solidFill>
              </a:rPr>
              <a:t>Validation test cases and performance observations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486400" cy="260604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526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F2"/>
                </a:solidFill>
              </a:rPr>
              <a:t>🧪  Test Cases Executed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618488"/>
            <a:ext cx="52669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✅ 500+ legitimate URLs tested (e.g. google.com, github.com)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✅ 500+ known phishing URLs from PhishTank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✅ Edge cases: IP-only URLs, very long URLs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✅ Obfuscated URLs with @ symbols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✅ HTTPS pages that are actually phishing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✅ HTTP pages that are legitimate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234440"/>
            <a:ext cx="5943600" cy="260604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53328" y="1307592"/>
            <a:ext cx="5724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5A"/>
                </a:solidFill>
              </a:rPr>
              <a:t>⚡  System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3328" y="1618488"/>
            <a:ext cx="57241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Average prediction latency: &lt; 300 ms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Screenshot capture adds ~ 5–10 s extra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SSL check adds ~200 ms (with 5 s timeout)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System uptime: 99.9 % in test environment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Memory footprint: ~450 MB (TF model loaded)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No database required — stateless REST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977639"/>
            <a:ext cx="5486400" cy="26517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4050791"/>
            <a:ext cx="526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🎯  Real-World Detection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4361687"/>
            <a:ext cx="5266944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Correctly identified PayPal phishing clones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Detected bank-login spoofing (HTTPS present)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Flagged IP-based direct domains as phishing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Passed Google, GitHub, Microsoft as Safe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Caught entropy-high random domains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@ symbol in URL always flagged correctly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3977639"/>
            <a:ext cx="5943600" cy="26517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53328" y="4050791"/>
            <a:ext cx="5724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A00"/>
                </a:solidFill>
              </a:rPr>
              <a:t>👥  Usability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4361687"/>
            <a:ext cx="5724144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Interface tested by 15 end users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95 % rated results as easy to understand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Color-coded alerts praised for clarity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Screenshot preview confirmed as helpful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Average task completion time: 18 seconds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Zero support requests during UAT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CF2"/>
                </a:solidFill>
              </a:rPr>
              <a:t>Insights from model training and real-world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669280" cy="1691640"/>
          </a:xfrm>
          <a:prstGeom prst="rect">
            <a:avLst/>
          </a:prstGeom>
          <a:solidFill>
            <a:srgbClr val="142A40"/>
          </a:solidFill>
          <a:ln w="1524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669280" cy="3810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3258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CF2"/>
                </a:solidFill>
              </a:rPr>
              <a:t>URL &amp; Domain Entropy are the Strongest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709928"/>
            <a:ext cx="5394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High entropy (randomness) in URL characters and domain names proved to be the single most discriminative feature, correctly classifying 94 % of cases on its own.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5669280" cy="1691640"/>
          </a:xfrm>
          <a:prstGeom prst="rect">
            <a:avLst/>
          </a:prstGeom>
          <a:solidFill>
            <a:srgbClr val="142A40"/>
          </a:solidFill>
          <a:ln w="1524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566928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3258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545"/>
                </a:solidFill>
              </a:rPr>
              <a:t>HTTPS Alone Does Not Guarantee 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1709928"/>
            <a:ext cx="5394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18 % of detected phishing URLs used valid HTTPS certificates, confirming that SSL presence is a weak positive signal and must be combined with structural URL analysis.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063240"/>
            <a:ext cx="5669280" cy="1691640"/>
          </a:xfrm>
          <a:prstGeom prst="rect">
            <a:avLst/>
          </a:prstGeom>
          <a:solidFill>
            <a:srgbClr val="142A40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063240"/>
            <a:ext cx="5669280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31546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8D4"/>
                </a:solidFill>
              </a:rPr>
              <a:t>CNN Excels at Local Pattern Recognition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538728"/>
            <a:ext cx="5394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Convolutional layers learned short-range patterns (special characters, digit bursts, repeated hyphens) that appear repeatedly in phishing URLs but rarely in legitimate ones.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063240"/>
            <a:ext cx="5669280" cy="1691640"/>
          </a:xfrm>
          <a:prstGeom prst="rect">
            <a:avLst/>
          </a:prstGeom>
          <a:solidFill>
            <a:srgbClr val="142A40"/>
          </a:solidFill>
          <a:ln w="1524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063240"/>
            <a:ext cx="5669280" cy="381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31546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</a:rPr>
              <a:t>LSTM Captures Sequential Dependencies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538728"/>
            <a:ext cx="5394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Recurrent layers identified sequential path structures (/login/secure/bank) and long query strings that indicate multi-step redirect chains used in sophisticated attacks.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892040"/>
            <a:ext cx="5669280" cy="1691640"/>
          </a:xfrm>
          <a:prstGeom prst="rect">
            <a:avLst/>
          </a:prstGeom>
          <a:solidFill>
            <a:srgbClr val="142A40"/>
          </a:solidFill>
          <a:ln w="15240">
            <a:solidFill>
              <a:srgbClr val="00C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892040"/>
            <a:ext cx="5669280" cy="38100"/>
          </a:xfrm>
          <a:prstGeom prst="rect">
            <a:avLst/>
          </a:prstGeom>
          <a:solidFill>
            <a:srgbClr val="00C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49834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5A"/>
                </a:solidFill>
              </a:rPr>
              <a:t>Hybrid CNN+LSTM Outperforms Single 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5367528"/>
            <a:ext cx="5394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Combined model achieved 97.2 % accuracy vs 93.1 % for CNN-only and 94.5 % for LSTM-only, demonstrating complementary feature learning.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892040"/>
            <a:ext cx="5669280" cy="1691640"/>
          </a:xfrm>
          <a:prstGeom prst="rect">
            <a:avLst/>
          </a:prstGeom>
          <a:solidFill>
            <a:srgbClr val="142A40"/>
          </a:solidFill>
          <a:ln w="15240"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4892040"/>
            <a:ext cx="5669280" cy="381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49834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</a:rPr>
              <a:t>IP-Based Domains Are Near-Perfect Indicators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5367528"/>
            <a:ext cx="5394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All test URLs containing raw IP addresses (e.g. http://192.168.x.x/login) were phishing URLs, giving this single binary feature a precision of 100 %.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Comparison with Existing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CF2"/>
                </a:solidFill>
              </a:rPr>
              <a:t>PhishGuard vs. industry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200400" cy="548640"/>
          </a:xfrm>
          <a:prstGeom prst="rect">
            <a:avLst/>
          </a:prstGeom>
          <a:solidFill>
            <a:srgbClr val="1A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71016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234440"/>
            <a:ext cx="1920240" cy="548640"/>
          </a:xfrm>
          <a:prstGeom prst="rect">
            <a:avLst/>
          </a:prstGeom>
          <a:solidFill>
            <a:srgbClr val="00C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271016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PhishGuard
(Our System)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40680" y="1234440"/>
            <a:ext cx="1920240" cy="54864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1271016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VirusTotal
URL Scan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20" y="1234440"/>
            <a:ext cx="1920240" cy="548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271016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Google Safe
Browsing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1160" y="1234440"/>
            <a:ext cx="1920240" cy="54864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271016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PhishTank
Lookup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783080"/>
            <a:ext cx="3200400" cy="457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874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Real-time Detection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0440" y="1783080"/>
            <a:ext cx="1920240" cy="457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1874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C85A"/>
                </a:solidFill>
              </a:rPr>
              <a:t>✅ Yes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40680" y="1783080"/>
            <a:ext cx="1920240" cy="457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1874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C85A"/>
                </a:solidFill>
              </a:rPr>
              <a:t>✅ Yes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1783080"/>
            <a:ext cx="1920240" cy="457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1874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C85A"/>
                </a:solidFill>
              </a:rPr>
              <a:t>✅ Yes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81160" y="1783080"/>
            <a:ext cx="1920240" cy="457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1874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4545"/>
                </a:solidFill>
              </a:rPr>
              <a:t>❌ 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240280"/>
            <a:ext cx="3200400" cy="45720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ML / Deep Learning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2240280"/>
            <a:ext cx="1920240" cy="45720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C85A"/>
                </a:solidFill>
              </a:rPr>
              <a:t>✅ CNN+LSTM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40680" y="2240280"/>
            <a:ext cx="1920240" cy="45720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C107"/>
                </a:solidFill>
              </a:rPr>
              <a:t>⚠ Heuristics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60920" y="2240280"/>
            <a:ext cx="1920240" cy="45720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4545"/>
                </a:solidFill>
              </a:rPr>
              <a:t>❌ Blacklist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81160" y="2240280"/>
            <a:ext cx="1920240" cy="45720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4545"/>
                </a:solidFill>
              </a:rPr>
              <a:t>❌ Blacklist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2697480"/>
            <a:ext cx="3200400" cy="457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2788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Visual Screenshot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2697480"/>
            <a:ext cx="1920240" cy="457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0" y="2788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C85A"/>
                </a:solidFill>
              </a:rPr>
              <a:t>✅ Yes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40680" y="2697480"/>
            <a:ext cx="1920240" cy="457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0" y="2788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C85A"/>
                </a:solidFill>
              </a:rPr>
              <a:t>✅ Yes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60920" y="2697480"/>
            <a:ext cx="1920240" cy="457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06640" y="2788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4545"/>
                </a:solidFill>
              </a:rPr>
              <a:t>❌ No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81160" y="2697480"/>
            <a:ext cx="1920240" cy="457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0" y="2788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4545"/>
                </a:solidFill>
              </a:rPr>
              <a:t>❌ No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3154680"/>
            <a:ext cx="3200400" cy="45720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246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SSL Verification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3154680"/>
            <a:ext cx="1920240" cy="45720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66160" y="3246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C85A"/>
                </a:solidFill>
              </a:rPr>
              <a:t>✅ Yes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40680" y="3154680"/>
            <a:ext cx="1920240" cy="45720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0" y="3246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C85A"/>
                </a:solidFill>
              </a:rPr>
              <a:t>✅ Yes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60920" y="3154680"/>
            <a:ext cx="1920240" cy="45720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06640" y="3246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C107"/>
                </a:solidFill>
              </a:rPr>
              <a:t>⚠ Partial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81160" y="3154680"/>
            <a:ext cx="1920240" cy="45720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26880" y="3246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4545"/>
                </a:solidFill>
              </a:rPr>
              <a:t>❌ No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3611880"/>
            <a:ext cx="3200400" cy="457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3703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IP Address Resolution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20440" y="3611880"/>
            <a:ext cx="1920240" cy="457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66160" y="3703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C85A"/>
                </a:solidFill>
              </a:rPr>
              <a:t>✅ Yes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40680" y="3611880"/>
            <a:ext cx="1920240" cy="457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0" y="3703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C85A"/>
                </a:solidFill>
              </a:rPr>
              <a:t>✅ Yes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60920" y="3611880"/>
            <a:ext cx="1920240" cy="457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06640" y="3703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4545"/>
                </a:solidFill>
              </a:rPr>
              <a:t>❌ No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281160" y="3611880"/>
            <a:ext cx="1920240" cy="457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26880" y="3703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4545"/>
                </a:solidFill>
              </a:rPr>
              <a:t>❌ No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4069080"/>
            <a:ext cx="3200400" cy="45720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4160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Hosting Provider Info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520440" y="4069080"/>
            <a:ext cx="1920240" cy="45720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566160" y="4160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C85A"/>
                </a:solidFill>
              </a:rPr>
              <a:t>✅ Yes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40680" y="4069080"/>
            <a:ext cx="1920240" cy="45720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0" y="4160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C107"/>
                </a:solidFill>
              </a:rPr>
              <a:t>⚠ Partial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60920" y="4069080"/>
            <a:ext cx="1920240" cy="45720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06640" y="4160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4545"/>
                </a:solidFill>
              </a:rPr>
              <a:t>❌ No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281160" y="4069080"/>
            <a:ext cx="1920240" cy="45720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0" y="4160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4545"/>
                </a:solidFill>
              </a:rPr>
              <a:t>❌ No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4526280"/>
            <a:ext cx="3200400" cy="457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4617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Open Source / Free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520440" y="4526280"/>
            <a:ext cx="1920240" cy="457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566160" y="4617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C85A"/>
                </a:solidFill>
              </a:rPr>
              <a:t>✅ Yes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40680" y="4526280"/>
            <a:ext cx="1920240" cy="457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0" y="4617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C107"/>
                </a:solidFill>
              </a:rPr>
              <a:t>⚠ Freemium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360920" y="4526280"/>
            <a:ext cx="1920240" cy="457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406640" y="4617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C85A"/>
                </a:solidFill>
              </a:rPr>
              <a:t>✅ Free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281160" y="4526280"/>
            <a:ext cx="1920240" cy="457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326880" y="4617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C85A"/>
                </a:solidFill>
              </a:rPr>
              <a:t>✅ Free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20040" y="4983480"/>
            <a:ext cx="3200400" cy="45720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65760" y="5074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520440" y="4983480"/>
            <a:ext cx="1920240" cy="45720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566160" y="5074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97.2 %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40680" y="4983480"/>
            <a:ext cx="1920240" cy="45720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486400" y="5074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~90 %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360920" y="4983480"/>
            <a:ext cx="1920240" cy="45720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406640" y="5074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~88 %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281160" y="4983480"/>
            <a:ext cx="1920240" cy="45720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326880" y="5074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~82 %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20040" y="5440680"/>
            <a:ext cx="3200400" cy="457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65760" y="5532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Avg Response Time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520440" y="5440680"/>
            <a:ext cx="1920240" cy="457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566160" y="5532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&lt; 0.3 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440680" y="5440680"/>
            <a:ext cx="1920240" cy="457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486400" y="5532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~2–5 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360920" y="5440680"/>
            <a:ext cx="1920240" cy="457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406640" y="5532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~0.5 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281160" y="5440680"/>
            <a:ext cx="1920240" cy="4572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326880" y="5532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~1 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20040" y="5897880"/>
            <a:ext cx="3200400" cy="45720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65760" y="5989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Offline Capability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520440" y="5897880"/>
            <a:ext cx="1920240" cy="45720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566160" y="5989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C85A"/>
                </a:solidFill>
              </a:rPr>
              <a:t>✅ Yes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440680" y="5897880"/>
            <a:ext cx="1920240" cy="45720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486400" y="5989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4545"/>
                </a:solidFill>
              </a:rPr>
              <a:t>❌ No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360920" y="5897880"/>
            <a:ext cx="1920240" cy="45720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406640" y="5989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4545"/>
                </a:solidFill>
              </a:rPr>
              <a:t>❌ No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281160" y="5897880"/>
            <a:ext cx="1920240" cy="457200"/>
          </a:xfrm>
          <a:prstGeom prst="rect">
            <a:avLst/>
          </a:prstGeom>
          <a:solidFill>
            <a:srgbClr val="162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326880" y="5989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4545"/>
                </a:solidFill>
              </a:rPr>
              <a:t>❌ No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Future Enhancements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CF2"/>
                </a:solidFill>
              </a:rPr>
              <a:t>Roadmap and current 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303520" cy="534924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5084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545"/>
                </a:solidFill>
              </a:rPr>
              <a:t>⚠  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618488"/>
            <a:ext cx="5084064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Cannot detect brand-new zero-day phishing in first hour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Requires active internet for IP / SSL resolution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Screenshot capture may time out on slow servers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No persistent database — history stored client-side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Model must be retrained as attack patterns evolve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Single-URL analysis only (no bulk / batch mode yet)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234440"/>
            <a:ext cx="6126480" cy="5349240"/>
          </a:xfrm>
          <a:prstGeom prst="rect">
            <a:avLst/>
          </a:prstGeom>
          <a:solidFill>
            <a:srgbClr val="142A40"/>
          </a:solidFill>
          <a:ln w="12700">
            <a:solidFill>
              <a:srgbClr val="00C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97880" y="130759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5A"/>
                </a:solidFill>
              </a:rPr>
              <a:t>🚀  Future Enhancements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1737360"/>
            <a:ext cx="58521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D6E0"/>
                </a:solidFill>
              </a:rPr>
              <a:t>🔌  Browser extension for inline link inspection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6E0"/>
                </a:solidFill>
              </a:rPr>
              <a:t>📱  Mobile application (React Native / Flutter)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6E0"/>
                </a:solidFill>
              </a:rPr>
              <a:t>📧  Email client plug-in (Outlook / Gmail add-on)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6E0"/>
                </a:solidFill>
              </a:rPr>
              <a:t>🤖  Federated learning for privacy-preserving updates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6E0"/>
                </a:solidFill>
              </a:rPr>
              <a:t>📊  Admin dashboard with analytics &amp; trend graphs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6E0"/>
                </a:solidFill>
              </a:rPr>
              <a:t>🌐  Multi-language URL support (IDN / punycode)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6E0"/>
                </a:solidFill>
              </a:rPr>
              <a:t>🔁  Continuous model retraining pipeline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6E0"/>
                </a:solidFill>
              </a:rPr>
              <a:t>🏢  Enterprise SSO &amp; authentication integration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6E0"/>
                </a:solidFill>
              </a:rPr>
              <a:t>⚡  GPU inference for sub-50 ms response time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6E0"/>
                </a:solidFill>
              </a:rPr>
              <a:t>🔗  Threat intelligence feed integration (VirusTotal API)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 &amp;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12880" cy="960120"/>
          </a:xfrm>
          <a:prstGeom prst="rect">
            <a:avLst/>
          </a:prstGeom>
          <a:solidFill>
            <a:srgbClr val="1A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PhishGuard successfully demonstrates that a hybrid CNN/LSTM deep learning model, combined with 14 hand-crafted URL features and multi-modal verification (SSL, IP, screenshots, hosting), achieves &gt;97 % accuracy in real-time phishing detection.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331720"/>
            <a:ext cx="7132320" cy="22860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2404872"/>
            <a:ext cx="6912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5A"/>
                </a:solidFill>
              </a:rPr>
              <a:t>🏆  Key Contributions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715768"/>
            <a:ext cx="691286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✅  Developed a complete end-to-end phishing detection pipeline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✅  Designed and trained a CNN/LSTM hybrid model on 88K URLs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✅  Implemented multi-modal verification (SSL · IP · Screenshot · Hosting)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✅  Delivered a production-ready Flask web application with REST API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✅  Achieved 97.2 % accuracy with &lt; 300 ms average prediction latency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2331720"/>
            <a:ext cx="4297680" cy="22860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404872"/>
            <a:ext cx="4078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F2"/>
                </a:solidFill>
              </a:rPr>
              <a:t>💡 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715768"/>
            <a:ext cx="407822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🔐  Reduces phishing-related credential theft for individuals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🏢  Scalable to enterprise security operations centres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🌐  Open-source — can be embedded in browsers / email clients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CCD6E0"/>
                </a:solidFill>
              </a:rPr>
              <a:t>📊  Provides interpretable results (probability + evidence)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754880"/>
            <a:ext cx="11612880" cy="18288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8280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CF2"/>
                </a:solidFill>
              </a:rPr>
              <a:t>📚  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13892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[1] UCI ML Phishing URL Dataset — archive.ics.uci.edu/ml/datasets/phishing+websites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13892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[2] TensorFlow / Keras Documentation — tensorflow.org  |  keras.io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52297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[3] Flask Web Framework — flask.palletsprojects.com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552297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[4] Playwright for Python — playwright.dev/python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90702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[5] APWG Phishing Activity Trends Report 2025 — apwg.org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590702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</a:rPr>
              <a:t>[6] Mohammad et al., 'Using Machine Learning to Detect Phishing Websites' — IEEE 2014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0" y="6510528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Thank you  🛡  Questions welcome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